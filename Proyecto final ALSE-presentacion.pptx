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9" d="100"/>
          <a:sy n="79" d="100"/>
        </p:scale>
        <p:origin x="83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57609C6-4210-442C-BE65-102265961D0E}" type="datetimeFigureOut">
              <a:rPr lang="es-CO" smtClean="0"/>
              <a:t>9/12/2025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rIns="45720"/>
          <a:lstStyle/>
          <a:p>
            <a:fld id="{AB70F031-9C9B-4DD7-B471-D5342F811FD3}" type="slidenum">
              <a:rPr lang="es-CO" smtClean="0"/>
              <a:t>‹Nº›</a:t>
            </a:fld>
            <a:endParaRPr lang="es-CO"/>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433327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7609C6-4210-442C-BE65-102265961D0E}" type="datetimeFigureOut">
              <a:rPr lang="es-CO" smtClean="0"/>
              <a:t>9/12/2025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B70F031-9C9B-4DD7-B471-D5342F811FD3}" type="slidenum">
              <a:rPr lang="es-CO" smtClean="0"/>
              <a:t>‹Nº›</a:t>
            </a:fld>
            <a:endParaRPr lang="es-CO"/>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926198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57609C6-4210-442C-BE65-102265961D0E}" type="datetimeFigureOut">
              <a:rPr lang="es-CO" smtClean="0"/>
              <a:t>9/12/2025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284869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7609C6-4210-442C-BE65-102265961D0E}" type="datetimeFigureOut">
              <a:rPr lang="es-CO" smtClean="0"/>
              <a:t>9/12/2025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B70F031-9C9B-4DD7-B471-D5342F811FD3}" type="slidenum">
              <a:rPr lang="es-CO" smtClean="0"/>
              <a:t>‹Nº›</a:t>
            </a:fld>
            <a:endParaRPr lang="es-CO"/>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45590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57609C6-4210-442C-BE65-102265961D0E}" type="datetimeFigureOut">
              <a:rPr lang="es-CO" smtClean="0"/>
              <a:t>9/12/2025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3170059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57609C6-4210-442C-BE65-102265961D0E}" type="datetimeFigureOut">
              <a:rPr lang="es-CO" smtClean="0"/>
              <a:t>9/12/2025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AB70F031-9C9B-4DD7-B471-D5342F811FD3}" type="slidenum">
              <a:rPr lang="es-CO" smtClean="0"/>
              <a:t>‹Nº›</a:t>
            </a:fld>
            <a:endParaRPr lang="es-CO"/>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58316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57609C6-4210-442C-BE65-102265961D0E}" type="datetimeFigureOut">
              <a:rPr lang="es-CO" smtClean="0"/>
              <a:t>9/12/2025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1500339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7609C6-4210-442C-BE65-102265961D0E}" type="datetimeFigureOut">
              <a:rPr lang="es-CO" smtClean="0"/>
              <a:t>9/12/2025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3576746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57609C6-4210-442C-BE65-102265961D0E}" type="datetimeFigureOut">
              <a:rPr lang="es-CO" smtClean="0"/>
              <a:t>9/12/2025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404111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7609C6-4210-442C-BE65-102265961D0E}" type="datetimeFigureOut">
              <a:rPr lang="es-CO" smtClean="0"/>
              <a:t>9/12/2025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403825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7609C6-4210-442C-BE65-102265961D0E}" type="datetimeFigureOut">
              <a:rPr lang="es-CO" smtClean="0"/>
              <a:t>9/12/2025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B70F031-9C9B-4DD7-B471-D5342F811FD3}" type="slidenum">
              <a:rPr lang="es-CO" smtClean="0"/>
              <a:t>‹Nº›</a:t>
            </a:fld>
            <a:endParaRPr lang="es-CO"/>
          </a:p>
        </p:txBody>
      </p:sp>
    </p:spTree>
    <p:extLst>
      <p:ext uri="{BB962C8B-B14F-4D97-AF65-F5344CB8AC3E}">
        <p14:creationId xmlns:p14="http://schemas.microsoft.com/office/powerpoint/2010/main" val="588235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57609C6-4210-442C-BE65-102265961D0E}" type="datetimeFigureOut">
              <a:rPr lang="es-CO" smtClean="0"/>
              <a:t>9/12/2025</a:t>
            </a:fld>
            <a:endParaRPr lang="es-CO"/>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AB70F031-9C9B-4DD7-B471-D5342F811FD3}" type="slidenum">
              <a:rPr lang="es-CO" smtClean="0"/>
              <a:t>‹Nº›</a:t>
            </a:fld>
            <a:endParaRPr lang="es-CO"/>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Tree>
    <p:extLst>
      <p:ext uri="{BB962C8B-B14F-4D97-AF65-F5344CB8AC3E}">
        <p14:creationId xmlns:p14="http://schemas.microsoft.com/office/powerpoint/2010/main" val="21570217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62C38F-8EC0-7957-3B69-B161D47A6FBB}"/>
              </a:ext>
            </a:extLst>
          </p:cNvPr>
          <p:cNvSpPr>
            <a:spLocks noGrp="1"/>
          </p:cNvSpPr>
          <p:nvPr>
            <p:ph type="ctrTitle"/>
          </p:nvPr>
        </p:nvSpPr>
        <p:spPr/>
        <p:txBody>
          <a:bodyPr>
            <a:normAutofit fontScale="90000"/>
          </a:bodyPr>
          <a:lstStyle/>
          <a:p>
            <a:r>
              <a:rPr lang="es-ES" dirty="0"/>
              <a:t>Proyecto final ALSE-gestor inventario</a:t>
            </a:r>
            <a:endParaRPr lang="es-CO" dirty="0"/>
          </a:p>
        </p:txBody>
      </p:sp>
      <p:sp>
        <p:nvSpPr>
          <p:cNvPr id="3" name="Subtítulo 2">
            <a:extLst>
              <a:ext uri="{FF2B5EF4-FFF2-40B4-BE49-F238E27FC236}">
                <a16:creationId xmlns:a16="http://schemas.microsoft.com/office/drawing/2014/main" id="{D020252B-2713-F282-8C71-394E89F5C144}"/>
              </a:ext>
            </a:extLst>
          </p:cNvPr>
          <p:cNvSpPr>
            <a:spLocks noGrp="1"/>
          </p:cNvSpPr>
          <p:nvPr>
            <p:ph type="subTitle" idx="1"/>
          </p:nvPr>
        </p:nvSpPr>
        <p:spPr/>
        <p:txBody>
          <a:bodyPr>
            <a:normAutofit fontScale="85000" lnSpcReduction="20000"/>
          </a:bodyPr>
          <a:lstStyle/>
          <a:p>
            <a:r>
              <a:rPr lang="es-ES" dirty="0"/>
              <a:t>-Jesús Estiven Vargas</a:t>
            </a:r>
          </a:p>
          <a:p>
            <a:r>
              <a:rPr lang="es-ES" dirty="0"/>
              <a:t>-Mateo Felipe Amaya</a:t>
            </a:r>
          </a:p>
          <a:p>
            <a:r>
              <a:rPr lang="es-ES" dirty="0"/>
              <a:t>-Daniel Valderrama</a:t>
            </a:r>
            <a:endParaRPr lang="es-CO" dirty="0"/>
          </a:p>
        </p:txBody>
      </p:sp>
    </p:spTree>
    <p:extLst>
      <p:ext uri="{BB962C8B-B14F-4D97-AF65-F5344CB8AC3E}">
        <p14:creationId xmlns:p14="http://schemas.microsoft.com/office/powerpoint/2010/main" val="393155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0C8693A-B687-4F5E-B86B-B4F11D52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7" name="Picture 2056">
            <a:extLst>
              <a:ext uri="{FF2B5EF4-FFF2-40B4-BE49-F238E27FC236}">
                <a16:creationId xmlns:a16="http://schemas.microsoft.com/office/drawing/2014/main" id="{D51084F9-D042-49BE-9E1A-43E583B98F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059" name="Picture 2058">
            <a:extLst>
              <a:ext uri="{FF2B5EF4-FFF2-40B4-BE49-F238E27FC236}">
                <a16:creationId xmlns:a16="http://schemas.microsoft.com/office/drawing/2014/main" id="{EE65CA45-264D-4FD3-9249-3CB04EC97E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061" name="Rectangle 2060">
            <a:extLst>
              <a:ext uri="{FF2B5EF4-FFF2-40B4-BE49-F238E27FC236}">
                <a16:creationId xmlns:a16="http://schemas.microsoft.com/office/drawing/2014/main" id="{E7B58214-716F-43B8-8272-85CE2B9AB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2A5C070E-7DB1-4147-B6A8-D14B9C40E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A31070C9-36CD-4B65-8159-324995821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B09AF0F-20D4-4B45-5174-465C784A0BF5}"/>
              </a:ext>
            </a:extLst>
          </p:cNvPr>
          <p:cNvSpPr>
            <a:spLocks noGrp="1"/>
          </p:cNvSpPr>
          <p:nvPr>
            <p:ph type="title"/>
          </p:nvPr>
        </p:nvSpPr>
        <p:spPr>
          <a:xfrm>
            <a:off x="1969803" y="808056"/>
            <a:ext cx="8608037" cy="1077229"/>
          </a:xfrm>
        </p:spPr>
        <p:txBody>
          <a:bodyPr>
            <a:normAutofit/>
          </a:bodyPr>
          <a:lstStyle/>
          <a:p>
            <a:pPr algn="l"/>
            <a:r>
              <a:rPr lang="es-ES" dirty="0"/>
              <a:t>Descripción:</a:t>
            </a:r>
            <a:endParaRPr lang="es-CO"/>
          </a:p>
        </p:txBody>
      </p:sp>
      <p:sp>
        <p:nvSpPr>
          <p:cNvPr id="3" name="Marcador de contenido 2">
            <a:extLst>
              <a:ext uri="{FF2B5EF4-FFF2-40B4-BE49-F238E27FC236}">
                <a16:creationId xmlns:a16="http://schemas.microsoft.com/office/drawing/2014/main" id="{9F78FC77-9087-C70E-2885-041883AABEA2}"/>
              </a:ext>
            </a:extLst>
          </p:cNvPr>
          <p:cNvSpPr>
            <a:spLocks noGrp="1"/>
          </p:cNvSpPr>
          <p:nvPr>
            <p:ph idx="1"/>
          </p:nvPr>
        </p:nvSpPr>
        <p:spPr>
          <a:xfrm>
            <a:off x="1975805" y="2052116"/>
            <a:ext cx="2908167" cy="3997828"/>
          </a:xfrm>
        </p:spPr>
        <p:txBody>
          <a:bodyPr>
            <a:normAutofit/>
          </a:bodyPr>
          <a:lstStyle/>
          <a:p>
            <a:r>
              <a:rPr lang="es-ES" sz="1600"/>
              <a:t>El proyecto se basó en la propuesta número 3, la cual consistía en hacer un sistema de inventario para administrar componentes electrónicos. Implementando códigos en c++, Qt y base de datos por SQLite</a:t>
            </a:r>
            <a:endParaRPr lang="es-CO" sz="1600"/>
          </a:p>
        </p:txBody>
      </p:sp>
      <p:pic>
        <p:nvPicPr>
          <p:cNvPr id="2050" name="Picture 2" descr="Qué es una base de datos y cómo gestionarla">
            <a:extLst>
              <a:ext uri="{FF2B5EF4-FFF2-40B4-BE49-F238E27FC236}">
                <a16:creationId xmlns:a16="http://schemas.microsoft.com/office/drawing/2014/main" id="{5DD682F2-ABE8-4C4A-CFB4-2405E9FDCB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210" r="572" b="16"/>
          <a:stretch>
            <a:fillRect/>
          </a:stretch>
        </p:blipFill>
        <p:spPr bwMode="auto">
          <a:xfrm>
            <a:off x="5432992" y="2348779"/>
            <a:ext cx="4818974" cy="3373468"/>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2067" name="Rectangle 2066">
            <a:extLst>
              <a:ext uri="{FF2B5EF4-FFF2-40B4-BE49-F238E27FC236}">
                <a16:creationId xmlns:a16="http://schemas.microsoft.com/office/drawing/2014/main" id="{89C35FB2-5194-4BE0-92D0-464E2B711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1301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B2356D-D682-A934-A852-D311016F978B}"/>
              </a:ext>
            </a:extLst>
          </p:cNvPr>
          <p:cNvSpPr>
            <a:spLocks noGrp="1"/>
          </p:cNvSpPr>
          <p:nvPr>
            <p:ph type="title"/>
          </p:nvPr>
        </p:nvSpPr>
        <p:spPr/>
        <p:txBody>
          <a:bodyPr/>
          <a:lstStyle/>
          <a:p>
            <a:r>
              <a:rPr lang="es-ES" dirty="0"/>
              <a:t>Estructura del proyecto:</a:t>
            </a:r>
            <a:endParaRPr lang="es-CO" dirty="0"/>
          </a:p>
        </p:txBody>
      </p:sp>
      <p:sp>
        <p:nvSpPr>
          <p:cNvPr id="5" name="CuadroTexto 4">
            <a:extLst>
              <a:ext uri="{FF2B5EF4-FFF2-40B4-BE49-F238E27FC236}">
                <a16:creationId xmlns:a16="http://schemas.microsoft.com/office/drawing/2014/main" id="{6CF68DA4-833F-E84D-93B1-94A0E2AE2F0F}"/>
              </a:ext>
            </a:extLst>
          </p:cNvPr>
          <p:cNvSpPr txBox="1"/>
          <p:nvPr/>
        </p:nvSpPr>
        <p:spPr>
          <a:xfrm>
            <a:off x="1151467" y="2032000"/>
            <a:ext cx="4509105" cy="3693319"/>
          </a:xfrm>
          <a:prstGeom prst="rect">
            <a:avLst/>
          </a:prstGeom>
          <a:solidFill>
            <a:schemeClr val="accent2">
              <a:lumMod val="50000"/>
            </a:schemeClr>
          </a:solidFill>
        </p:spPr>
        <p:txBody>
          <a:bodyPr wrap="square" rtlCol="0">
            <a:spAutoFit/>
          </a:bodyPr>
          <a:lstStyle/>
          <a:p>
            <a:r>
              <a:rPr lang="es-CO" dirty="0" err="1"/>
              <a:t>GestorInventario</a:t>
            </a:r>
            <a:r>
              <a:rPr lang="es-CO" dirty="0"/>
              <a:t>/├── CMakeLists.txt├── </a:t>
            </a:r>
            <a:r>
              <a:rPr lang="es-CO" dirty="0" err="1"/>
              <a:t>src</a:t>
            </a:r>
            <a:r>
              <a:rPr lang="es-CO" dirty="0"/>
              <a:t>/│   ├── main.cpp│   ├── MainWindow.cpp│   ├── </a:t>
            </a:r>
            <a:r>
              <a:rPr lang="es-CO" dirty="0" err="1"/>
              <a:t>MainWindow.h</a:t>
            </a:r>
            <a:r>
              <a:rPr lang="es-CO" dirty="0"/>
              <a:t>│   ├── </a:t>
            </a:r>
            <a:r>
              <a:rPr lang="es-CO" dirty="0" err="1"/>
              <a:t>Component.h</a:t>
            </a:r>
            <a:r>
              <a:rPr lang="es-CO" dirty="0"/>
              <a:t>│   ├── Component.cpp│   ├── </a:t>
            </a:r>
            <a:r>
              <a:rPr lang="es-CO" dirty="0" err="1"/>
              <a:t>DatabaseManager.h</a:t>
            </a:r>
            <a:r>
              <a:rPr lang="es-CO" dirty="0"/>
              <a:t>│   ├── DatabaseManager.cpp│   ├── </a:t>
            </a:r>
            <a:r>
              <a:rPr lang="es-CO" dirty="0" err="1"/>
              <a:t>InventoryManager.h</a:t>
            </a:r>
            <a:r>
              <a:rPr lang="es-CO" dirty="0"/>
              <a:t>│   ├── InventoryManager.cpp│   ├── </a:t>
            </a:r>
            <a:r>
              <a:rPr lang="es-CO" dirty="0" err="1"/>
              <a:t>ReportGenerator.h</a:t>
            </a:r>
            <a:r>
              <a:rPr lang="es-CO" dirty="0"/>
              <a:t>│   └── ReportGenerator.cpp├── </a:t>
            </a:r>
            <a:r>
              <a:rPr lang="es-CO" dirty="0" err="1"/>
              <a:t>ui</a:t>
            </a:r>
            <a:r>
              <a:rPr lang="es-CO" dirty="0"/>
              <a:t>/│   └── (archivos .</a:t>
            </a:r>
            <a:r>
              <a:rPr lang="es-CO" dirty="0" err="1"/>
              <a:t>ui</a:t>
            </a:r>
            <a:r>
              <a:rPr lang="es-CO" dirty="0"/>
              <a:t> si los usas)└── </a:t>
            </a:r>
            <a:r>
              <a:rPr lang="es-CO" dirty="0" err="1"/>
              <a:t>resources</a:t>
            </a:r>
            <a:r>
              <a:rPr lang="es-CO" dirty="0"/>
              <a:t>/    └── (recursos como iconos, etc.)</a:t>
            </a:r>
          </a:p>
        </p:txBody>
      </p:sp>
      <p:sp>
        <p:nvSpPr>
          <p:cNvPr id="6" name="CuadroTexto 5">
            <a:extLst>
              <a:ext uri="{FF2B5EF4-FFF2-40B4-BE49-F238E27FC236}">
                <a16:creationId xmlns:a16="http://schemas.microsoft.com/office/drawing/2014/main" id="{2EF142D5-5F9A-008B-412D-B16FD238574C}"/>
              </a:ext>
            </a:extLst>
          </p:cNvPr>
          <p:cNvSpPr txBox="1"/>
          <p:nvPr/>
        </p:nvSpPr>
        <p:spPr>
          <a:xfrm>
            <a:off x="5708953" y="2404533"/>
            <a:ext cx="5670247" cy="2308324"/>
          </a:xfrm>
          <a:prstGeom prst="rect">
            <a:avLst/>
          </a:prstGeom>
          <a:noFill/>
        </p:spPr>
        <p:txBody>
          <a:bodyPr wrap="square" rtlCol="0">
            <a:spAutoFit/>
          </a:bodyPr>
          <a:lstStyle/>
          <a:p>
            <a:r>
              <a:rPr lang="es-ES" dirty="0"/>
              <a:t>SRC: mantiene la lógica principal, incluyendo ventana principal, manejo de componentes, conexión con las bases y generación de reportes.</a:t>
            </a:r>
          </a:p>
          <a:p>
            <a:r>
              <a:rPr lang="es-ES" dirty="0"/>
              <a:t>UI: Incluye las interfaces gráficas.</a:t>
            </a:r>
          </a:p>
          <a:p>
            <a:r>
              <a:rPr lang="es-ES" dirty="0" err="1"/>
              <a:t>Resuources</a:t>
            </a:r>
            <a:r>
              <a:rPr lang="es-ES" dirty="0"/>
              <a:t>: almacena recursos como imágenes e íconos utilizados por la aplicación</a:t>
            </a:r>
            <a:r>
              <a:rPr lang="es-CO" dirty="0"/>
              <a:t>.</a:t>
            </a:r>
          </a:p>
          <a:p>
            <a:r>
              <a:rPr lang="es-CO" dirty="0" err="1"/>
              <a:t>Cmakelist</a:t>
            </a:r>
            <a:r>
              <a:rPr lang="es-CO" dirty="0"/>
              <a:t>: archivo principal de configuración para la compilación.</a:t>
            </a:r>
            <a:endParaRPr lang="es-ES" dirty="0"/>
          </a:p>
        </p:txBody>
      </p:sp>
    </p:spTree>
    <p:extLst>
      <p:ext uri="{BB962C8B-B14F-4D97-AF65-F5344CB8AC3E}">
        <p14:creationId xmlns:p14="http://schemas.microsoft.com/office/powerpoint/2010/main" val="2739620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7438BF-9655-C146-CBFE-B81CF6808353}"/>
              </a:ext>
            </a:extLst>
          </p:cNvPr>
          <p:cNvSpPr>
            <a:spLocks noGrp="1"/>
          </p:cNvSpPr>
          <p:nvPr>
            <p:ph type="title"/>
          </p:nvPr>
        </p:nvSpPr>
        <p:spPr/>
        <p:txBody>
          <a:bodyPr/>
          <a:lstStyle/>
          <a:p>
            <a:r>
              <a:rPr lang="es-ES" dirty="0"/>
              <a:t>Configuración de </a:t>
            </a:r>
            <a:r>
              <a:rPr lang="es-ES" dirty="0" err="1"/>
              <a:t>CMake</a:t>
            </a:r>
            <a:endParaRPr lang="es-CO" dirty="0"/>
          </a:p>
        </p:txBody>
      </p:sp>
      <p:sp>
        <p:nvSpPr>
          <p:cNvPr id="3" name="Marcador de contenido 2">
            <a:extLst>
              <a:ext uri="{FF2B5EF4-FFF2-40B4-BE49-F238E27FC236}">
                <a16:creationId xmlns:a16="http://schemas.microsoft.com/office/drawing/2014/main" id="{5C8F1A13-7E1F-BCE9-D407-DD45CD659AA4}"/>
              </a:ext>
            </a:extLst>
          </p:cNvPr>
          <p:cNvSpPr>
            <a:spLocks noGrp="1"/>
          </p:cNvSpPr>
          <p:nvPr>
            <p:ph idx="1"/>
          </p:nvPr>
        </p:nvSpPr>
        <p:spPr>
          <a:xfrm>
            <a:off x="5372704" y="2396111"/>
            <a:ext cx="5826447" cy="3653833"/>
          </a:xfrm>
        </p:spPr>
        <p:txBody>
          <a:bodyPr>
            <a:normAutofit fontScale="92500" lnSpcReduction="20000"/>
          </a:bodyPr>
          <a:lstStyle/>
          <a:p>
            <a:r>
              <a:rPr lang="es-ES" dirty="0"/>
              <a:t>En esta etapa se configuró el proyecto </a:t>
            </a:r>
            <a:r>
              <a:rPr lang="es-ES" i="1" dirty="0" err="1"/>
              <a:t>GestorInventario</a:t>
            </a:r>
            <a:r>
              <a:rPr lang="es-ES" dirty="0"/>
              <a:t> utilizando </a:t>
            </a:r>
            <a:r>
              <a:rPr lang="es-ES" dirty="0" err="1"/>
              <a:t>CMake</a:t>
            </a:r>
            <a:r>
              <a:rPr lang="es-ES" dirty="0"/>
              <a:t>.</a:t>
            </a:r>
            <a:br>
              <a:rPr lang="es-ES" dirty="0"/>
            </a:br>
            <a:r>
              <a:rPr lang="es-ES" dirty="0"/>
              <a:t>Se definió C++17 como estándar y se activaron AUTOMOC, AUTORCC y AUTOUIC para integrar correctamente las herramientas de Qt.</a:t>
            </a:r>
            <a:br>
              <a:rPr lang="es-ES" dirty="0"/>
            </a:br>
            <a:r>
              <a:rPr lang="es-ES" dirty="0"/>
              <a:t>Se añadieron las dependencias principales y se organizó el proyecto incluyendo los archivos fuente y de cabecera dentro de la carpeta </a:t>
            </a:r>
            <a:r>
              <a:rPr lang="es-ES" i="1" dirty="0" err="1"/>
              <a:t>src</a:t>
            </a:r>
            <a:r>
              <a:rPr lang="es-ES" dirty="0"/>
              <a:t>.</a:t>
            </a:r>
            <a:br>
              <a:rPr lang="es-ES" dirty="0"/>
            </a:br>
            <a:r>
              <a:rPr lang="es-ES" dirty="0"/>
              <a:t>Luego se generó el ejecutable del sistema y se enlazaron las bibliotecas necesarias para la interfaz gráfica y la base de datos.</a:t>
            </a:r>
            <a:br>
              <a:rPr lang="es-ES" dirty="0"/>
            </a:br>
            <a:endParaRPr lang="es-CO" dirty="0"/>
          </a:p>
        </p:txBody>
      </p:sp>
      <p:pic>
        <p:nvPicPr>
          <p:cNvPr id="5" name="Imagen 4" descr="Texto&#10;&#10;El contenido generado por IA puede ser incorrecto.">
            <a:extLst>
              <a:ext uri="{FF2B5EF4-FFF2-40B4-BE49-F238E27FC236}">
                <a16:creationId xmlns:a16="http://schemas.microsoft.com/office/drawing/2014/main" id="{21175E90-3425-5AD2-631A-BF7DF9CF221F}"/>
              </a:ext>
            </a:extLst>
          </p:cNvPr>
          <p:cNvPicPr>
            <a:picLocks noChangeAspect="1"/>
          </p:cNvPicPr>
          <p:nvPr/>
        </p:nvPicPr>
        <p:blipFill>
          <a:blip r:embed="rId2"/>
          <a:stretch>
            <a:fillRect/>
          </a:stretch>
        </p:blipFill>
        <p:spPr>
          <a:xfrm>
            <a:off x="1251869" y="2396111"/>
            <a:ext cx="4120835" cy="3517671"/>
          </a:xfrm>
          <a:prstGeom prst="rect">
            <a:avLst/>
          </a:prstGeom>
        </p:spPr>
      </p:pic>
    </p:spTree>
    <p:extLst>
      <p:ext uri="{BB962C8B-B14F-4D97-AF65-F5344CB8AC3E}">
        <p14:creationId xmlns:p14="http://schemas.microsoft.com/office/powerpoint/2010/main" val="3777073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D83990-7394-3297-63D9-3B6254DB867B}"/>
              </a:ext>
            </a:extLst>
          </p:cNvPr>
          <p:cNvSpPr>
            <a:spLocks noGrp="1"/>
          </p:cNvSpPr>
          <p:nvPr>
            <p:ph type="title"/>
          </p:nvPr>
        </p:nvSpPr>
        <p:spPr/>
        <p:txBody>
          <a:bodyPr/>
          <a:lstStyle/>
          <a:p>
            <a:r>
              <a:rPr lang="es-ES" dirty="0"/>
              <a:t>Módulo </a:t>
            </a:r>
            <a:r>
              <a:rPr lang="es-ES" dirty="0" err="1"/>
              <a:t>DataBaseManager</a:t>
            </a:r>
            <a:endParaRPr lang="es-CO" dirty="0"/>
          </a:p>
        </p:txBody>
      </p:sp>
      <p:sp>
        <p:nvSpPr>
          <p:cNvPr id="3" name="Marcador de contenido 2">
            <a:extLst>
              <a:ext uri="{FF2B5EF4-FFF2-40B4-BE49-F238E27FC236}">
                <a16:creationId xmlns:a16="http://schemas.microsoft.com/office/drawing/2014/main" id="{0CA3F833-D486-39F6-E77F-14B76A20C3B4}"/>
              </a:ext>
            </a:extLst>
          </p:cNvPr>
          <p:cNvSpPr>
            <a:spLocks noGrp="1"/>
          </p:cNvSpPr>
          <p:nvPr>
            <p:ph idx="1"/>
          </p:nvPr>
        </p:nvSpPr>
        <p:spPr>
          <a:xfrm>
            <a:off x="5976258" y="2238516"/>
            <a:ext cx="5014164" cy="3271957"/>
          </a:xfrm>
        </p:spPr>
        <p:txBody>
          <a:bodyPr>
            <a:normAutofit fontScale="85000" lnSpcReduction="10000"/>
          </a:bodyPr>
          <a:lstStyle/>
          <a:p>
            <a:r>
              <a:rPr lang="es-ES" dirty="0"/>
              <a:t>En esta parte, el código compilaba, pero sin embargo, mostraba problemas al leer la base de datos. La cantidad de escases servía, pero la parte de guardar el archivo no existía. También se incluyeron métodos auxiliares como la verificación de conexión y la conversión de filas SQL a objetos </a:t>
            </a:r>
            <a:r>
              <a:rPr lang="es-ES" dirty="0" err="1"/>
              <a:t>Component</a:t>
            </a:r>
            <a:r>
              <a:rPr lang="es-ES" dirty="0"/>
              <a:t>.</a:t>
            </a:r>
            <a:br>
              <a:rPr lang="es-ES" dirty="0"/>
            </a:br>
            <a:r>
              <a:rPr lang="es-ES" dirty="0"/>
              <a:t>Este módulo constituye la capa de persistencia del sistema y garantiza un manejo eficiente y centralizado de los datos del inventario.</a:t>
            </a:r>
          </a:p>
        </p:txBody>
      </p:sp>
      <p:pic>
        <p:nvPicPr>
          <p:cNvPr id="5" name="Imagen 4" descr="Texto&#10;&#10;El contenido generado por IA puede ser incorrecto.">
            <a:extLst>
              <a:ext uri="{FF2B5EF4-FFF2-40B4-BE49-F238E27FC236}">
                <a16:creationId xmlns:a16="http://schemas.microsoft.com/office/drawing/2014/main" id="{78EA96AA-D429-9800-A8D1-035CE2ADECF2}"/>
              </a:ext>
            </a:extLst>
          </p:cNvPr>
          <p:cNvPicPr>
            <a:picLocks noChangeAspect="1"/>
          </p:cNvPicPr>
          <p:nvPr/>
        </p:nvPicPr>
        <p:blipFill>
          <a:blip r:embed="rId2"/>
          <a:stretch>
            <a:fillRect/>
          </a:stretch>
        </p:blipFill>
        <p:spPr>
          <a:xfrm>
            <a:off x="1106120" y="2238516"/>
            <a:ext cx="4989880" cy="2865725"/>
          </a:xfrm>
          <a:prstGeom prst="rect">
            <a:avLst/>
          </a:prstGeom>
        </p:spPr>
      </p:pic>
    </p:spTree>
    <p:extLst>
      <p:ext uri="{BB962C8B-B14F-4D97-AF65-F5344CB8AC3E}">
        <p14:creationId xmlns:p14="http://schemas.microsoft.com/office/powerpoint/2010/main" val="20263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7E45EB-2082-42A1-A5FC-6D53F21DB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6A5C072-919B-4308-A48B-96DC0CBFBE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A8F74E2F-7C51-4D72-96BA-528A507481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1B61F797-14BD-476F-B569-140E96CB6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A0235D8-BAC3-4440-8A9B-43D98243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F2FD5C-3192-4646-91D2-C907BDC4C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Texto&#10;&#10;El contenido generado por IA puede ser incorrecto.">
            <a:extLst>
              <a:ext uri="{FF2B5EF4-FFF2-40B4-BE49-F238E27FC236}">
                <a16:creationId xmlns:a16="http://schemas.microsoft.com/office/drawing/2014/main" id="{0B2E2267-3B6A-91D8-0191-A86DF453D92A}"/>
              </a:ext>
            </a:extLst>
          </p:cNvPr>
          <p:cNvPicPr>
            <a:picLocks noChangeAspect="1"/>
          </p:cNvPicPr>
          <p:nvPr/>
        </p:nvPicPr>
        <p:blipFill>
          <a:blip r:embed="rId5"/>
          <a:stretch>
            <a:fillRect/>
          </a:stretch>
        </p:blipFill>
        <p:spPr>
          <a:xfrm>
            <a:off x="1451166" y="1978378"/>
            <a:ext cx="5054655" cy="221141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C13D80FB-77AD-91A0-4B81-371C43863824}"/>
              </a:ext>
            </a:extLst>
          </p:cNvPr>
          <p:cNvSpPr>
            <a:spLocks noGrp="1"/>
          </p:cNvSpPr>
          <p:nvPr>
            <p:ph idx="1"/>
          </p:nvPr>
        </p:nvSpPr>
        <p:spPr>
          <a:xfrm>
            <a:off x="6783012" y="1476375"/>
            <a:ext cx="4294971" cy="3997828"/>
          </a:xfrm>
        </p:spPr>
        <p:txBody>
          <a:bodyPr>
            <a:normAutofit/>
          </a:bodyPr>
          <a:lstStyle/>
          <a:p>
            <a:r>
              <a:rPr lang="es-ES" sz="1800" dirty="0"/>
              <a:t>Para corregir el error de la lectura de base de datos, se complementó la función en </a:t>
            </a:r>
            <a:r>
              <a:rPr lang="es-ES" sz="1800" dirty="0" err="1"/>
              <a:t>database</a:t>
            </a:r>
            <a:r>
              <a:rPr lang="es-ES" sz="1800" dirty="0"/>
              <a:t> manager.cpp</a:t>
            </a:r>
            <a:br>
              <a:rPr lang="es-ES" sz="1800" dirty="0"/>
            </a:br>
            <a:r>
              <a:rPr lang="es-ES" sz="1800" dirty="0"/>
              <a:t>El método ahora utiliza sentencias preparadas con parámetros seguros, evitando errores de SQL y permitiendo detectar fallos con mayor precisión. </a:t>
            </a:r>
            <a:endParaRPr lang="es-CO" sz="1800" dirty="0"/>
          </a:p>
        </p:txBody>
      </p:sp>
      <p:sp>
        <p:nvSpPr>
          <p:cNvPr id="22" name="Rectangle 21">
            <a:extLst>
              <a:ext uri="{FF2B5EF4-FFF2-40B4-BE49-F238E27FC236}">
                <a16:creationId xmlns:a16="http://schemas.microsoft.com/office/drawing/2014/main" id="{28564258-BA63-4452-B6A7-27E3497D9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1227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7E45EB-2082-42A1-A5FC-6D53F21DB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6A5C072-919B-4308-A48B-96DC0CBFBE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A8F74E2F-7C51-4D72-96BA-528A507481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1B61F797-14BD-476F-B569-140E96CB6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A0235D8-BAC3-4440-8A9B-43D98243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F2FD5C-3192-4646-91D2-C907BDC4C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868488-5AAE-FDD0-7809-76E2138627E4}"/>
              </a:ext>
            </a:extLst>
          </p:cNvPr>
          <p:cNvSpPr>
            <a:spLocks noGrp="1"/>
          </p:cNvSpPr>
          <p:nvPr>
            <p:ph type="title"/>
          </p:nvPr>
        </p:nvSpPr>
        <p:spPr>
          <a:xfrm>
            <a:off x="1969803" y="808056"/>
            <a:ext cx="8608037" cy="1077229"/>
          </a:xfrm>
        </p:spPr>
        <p:txBody>
          <a:bodyPr>
            <a:normAutofit/>
          </a:bodyPr>
          <a:lstStyle/>
          <a:p>
            <a:pPr algn="l"/>
            <a:r>
              <a:rPr lang="es-ES" dirty="0" err="1"/>
              <a:t>InventoryManager</a:t>
            </a:r>
            <a:endParaRPr lang="es-CO" dirty="0"/>
          </a:p>
        </p:txBody>
      </p:sp>
      <p:pic>
        <p:nvPicPr>
          <p:cNvPr id="5" name="Imagen 4" descr="Texto&#10;&#10;El contenido generado por IA puede ser incorrecto.">
            <a:extLst>
              <a:ext uri="{FF2B5EF4-FFF2-40B4-BE49-F238E27FC236}">
                <a16:creationId xmlns:a16="http://schemas.microsoft.com/office/drawing/2014/main" id="{E9ECB410-A985-F752-3AB3-30727AA1E6F7}"/>
              </a:ext>
            </a:extLst>
          </p:cNvPr>
          <p:cNvPicPr>
            <a:picLocks noChangeAspect="1"/>
          </p:cNvPicPr>
          <p:nvPr/>
        </p:nvPicPr>
        <p:blipFill>
          <a:blip r:embed="rId5"/>
          <a:stretch>
            <a:fillRect/>
          </a:stretch>
        </p:blipFill>
        <p:spPr>
          <a:xfrm>
            <a:off x="2718431" y="2364159"/>
            <a:ext cx="3380956" cy="3364051"/>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FE24583D-3A8E-0845-657A-D544E6D3AE6A}"/>
              </a:ext>
            </a:extLst>
          </p:cNvPr>
          <p:cNvSpPr>
            <a:spLocks noGrp="1"/>
          </p:cNvSpPr>
          <p:nvPr>
            <p:ph idx="1"/>
          </p:nvPr>
        </p:nvSpPr>
        <p:spPr>
          <a:xfrm>
            <a:off x="7286175" y="2052116"/>
            <a:ext cx="3289986" cy="3997828"/>
          </a:xfrm>
        </p:spPr>
        <p:txBody>
          <a:bodyPr>
            <a:normAutofit fontScale="85000" lnSpcReduction="10000"/>
          </a:bodyPr>
          <a:lstStyle/>
          <a:p>
            <a:r>
              <a:rPr lang="es-ES" sz="1800" dirty="0"/>
              <a:t>La clase </a:t>
            </a:r>
            <a:r>
              <a:rPr lang="es-ES" dirty="0" err="1"/>
              <a:t>InventoryManager</a:t>
            </a:r>
            <a:r>
              <a:rPr lang="es-ES" sz="1800" dirty="0"/>
              <a:t> actúa como una capa intermedia entre la lógica de inventario y el acceso a la base de datos. Su función principal es gestionar operaciones sobre componentes, delegando todas las tareas de persistencia al </a:t>
            </a:r>
            <a:r>
              <a:rPr lang="es-ES" dirty="0" err="1"/>
              <a:t>DatabaseManager</a:t>
            </a:r>
            <a:r>
              <a:rPr lang="es-ES" sz="1800" dirty="0"/>
              <a:t>.</a:t>
            </a:r>
            <a:br>
              <a:rPr lang="es-ES" sz="1800" dirty="0"/>
            </a:br>
            <a:r>
              <a:rPr lang="es-ES" sz="1800" dirty="0"/>
              <a:t>No administra la memoria del </a:t>
            </a:r>
            <a:r>
              <a:rPr lang="es-ES" dirty="0" err="1"/>
              <a:t>DatabaseManager</a:t>
            </a:r>
            <a:r>
              <a:rPr lang="es-ES" sz="1800" dirty="0"/>
              <a:t>, pues este es manejado externamente, lo que facilita la modularidad y evita dependencias rígidas.</a:t>
            </a:r>
            <a:endParaRPr lang="es-CO" sz="1800" dirty="0"/>
          </a:p>
        </p:txBody>
      </p:sp>
      <p:sp>
        <p:nvSpPr>
          <p:cNvPr id="22" name="Rectangle 21">
            <a:extLst>
              <a:ext uri="{FF2B5EF4-FFF2-40B4-BE49-F238E27FC236}">
                <a16:creationId xmlns:a16="http://schemas.microsoft.com/office/drawing/2014/main" id="{28564258-BA63-4452-B6A7-27E3497D9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392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7E45EB-2082-42A1-A5FC-6D53F21DB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6A5C072-919B-4308-A48B-96DC0CBFBE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A8F74E2F-7C51-4D72-96BA-528A507481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1B61F797-14BD-476F-B569-140E96CB6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A0235D8-BAC3-4440-8A9B-43D98243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F2FD5C-3192-4646-91D2-C907BDC4C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7FC5041-9D1C-9789-9B73-B52DD00E2860}"/>
              </a:ext>
            </a:extLst>
          </p:cNvPr>
          <p:cNvSpPr>
            <a:spLocks noGrp="1"/>
          </p:cNvSpPr>
          <p:nvPr>
            <p:ph type="title"/>
          </p:nvPr>
        </p:nvSpPr>
        <p:spPr>
          <a:xfrm>
            <a:off x="1969803" y="808056"/>
            <a:ext cx="8608037" cy="1077229"/>
          </a:xfrm>
        </p:spPr>
        <p:txBody>
          <a:bodyPr>
            <a:normAutofit/>
          </a:bodyPr>
          <a:lstStyle/>
          <a:p>
            <a:pPr algn="l"/>
            <a:r>
              <a:rPr lang="es-ES" dirty="0" err="1"/>
              <a:t>ReportGenerator</a:t>
            </a:r>
            <a:endParaRPr lang="es-CO"/>
          </a:p>
        </p:txBody>
      </p:sp>
      <p:pic>
        <p:nvPicPr>
          <p:cNvPr id="5" name="Imagen 4" descr="Texto&#10;&#10;El contenido generado por IA puede ser incorrecto.">
            <a:extLst>
              <a:ext uri="{FF2B5EF4-FFF2-40B4-BE49-F238E27FC236}">
                <a16:creationId xmlns:a16="http://schemas.microsoft.com/office/drawing/2014/main" id="{4ABEA04B-51E0-DB83-B52A-C793A1A1E696}"/>
              </a:ext>
            </a:extLst>
          </p:cNvPr>
          <p:cNvPicPr>
            <a:picLocks noChangeAspect="1"/>
          </p:cNvPicPr>
          <p:nvPr/>
        </p:nvPicPr>
        <p:blipFill>
          <a:blip r:embed="rId5"/>
          <a:stretch>
            <a:fillRect/>
          </a:stretch>
        </p:blipFill>
        <p:spPr>
          <a:xfrm>
            <a:off x="2181719" y="3071788"/>
            <a:ext cx="4454381" cy="194879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9C273A8F-60E6-A88F-205D-DBCA345A58D7}"/>
              </a:ext>
            </a:extLst>
          </p:cNvPr>
          <p:cNvSpPr>
            <a:spLocks noGrp="1"/>
          </p:cNvSpPr>
          <p:nvPr>
            <p:ph idx="1"/>
          </p:nvPr>
        </p:nvSpPr>
        <p:spPr>
          <a:xfrm>
            <a:off x="7286175" y="2052116"/>
            <a:ext cx="3289986" cy="3997828"/>
          </a:xfrm>
        </p:spPr>
        <p:txBody>
          <a:bodyPr>
            <a:normAutofit fontScale="85000" lnSpcReduction="10000"/>
          </a:bodyPr>
          <a:lstStyle/>
          <a:p>
            <a:r>
              <a:rPr lang="es-ES" sz="1800" dirty="0"/>
              <a:t>Se usó </a:t>
            </a:r>
            <a:r>
              <a:rPr lang="es-ES" sz="1800" dirty="0" err="1"/>
              <a:t>report</a:t>
            </a:r>
            <a:r>
              <a:rPr lang="es-ES" sz="1800" dirty="0"/>
              <a:t> </a:t>
            </a:r>
            <a:r>
              <a:rPr lang="es-ES" sz="1800" dirty="0" err="1"/>
              <a:t>generator</a:t>
            </a:r>
            <a:r>
              <a:rPr lang="es-ES" sz="1800" dirty="0"/>
              <a:t>, la cual es una clase utilitaria responsable de generar reportes a partir de un conjunto de componentes del sistema. Incluye funciones especializadas para resaltar información relevante, como componentes con stock bajo.</a:t>
            </a:r>
            <a:br>
              <a:rPr lang="es-ES" sz="1800" dirty="0"/>
            </a:br>
            <a:r>
              <a:rPr lang="es-ES" sz="1800" dirty="0"/>
              <a:t>Además, incorpora métodos internos para asegurar el correcto formateo de los datos según el tipo de reporte.</a:t>
            </a:r>
            <a:endParaRPr lang="es-CO" sz="1800" dirty="0"/>
          </a:p>
        </p:txBody>
      </p:sp>
      <p:sp>
        <p:nvSpPr>
          <p:cNvPr id="22" name="Rectangle 21">
            <a:extLst>
              <a:ext uri="{FF2B5EF4-FFF2-40B4-BE49-F238E27FC236}">
                <a16:creationId xmlns:a16="http://schemas.microsoft.com/office/drawing/2014/main" id="{28564258-BA63-4452-B6A7-27E3497D9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2720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7E45EB-2082-42A1-A5FC-6D53F21DB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6A5C072-919B-4308-A48B-96DC0CBFBE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A8F74E2F-7C51-4D72-96BA-528A507481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1B61F797-14BD-476F-B569-140E96CB6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A0235D8-BAC3-4440-8A9B-43D98243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F2FD5C-3192-4646-91D2-C907BDC4C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BDD7976-7EF4-A185-5BD2-F7B5977FD7BA}"/>
              </a:ext>
            </a:extLst>
          </p:cNvPr>
          <p:cNvSpPr>
            <a:spLocks noGrp="1"/>
          </p:cNvSpPr>
          <p:nvPr>
            <p:ph type="title"/>
          </p:nvPr>
        </p:nvSpPr>
        <p:spPr>
          <a:xfrm>
            <a:off x="1969803" y="808056"/>
            <a:ext cx="8608037" cy="1077229"/>
          </a:xfrm>
        </p:spPr>
        <p:txBody>
          <a:bodyPr>
            <a:normAutofit/>
          </a:bodyPr>
          <a:lstStyle/>
          <a:p>
            <a:pPr algn="l"/>
            <a:r>
              <a:rPr lang="es-ES" dirty="0"/>
              <a:t>Clase </a:t>
            </a:r>
            <a:r>
              <a:rPr lang="es-ES" dirty="0" err="1"/>
              <a:t>component</a:t>
            </a:r>
            <a:endParaRPr lang="es-CO" dirty="0"/>
          </a:p>
        </p:txBody>
      </p:sp>
      <p:pic>
        <p:nvPicPr>
          <p:cNvPr id="5" name="Imagen 4" descr="Texto&#10;&#10;El contenido generado por IA puede ser incorrecto.">
            <a:extLst>
              <a:ext uri="{FF2B5EF4-FFF2-40B4-BE49-F238E27FC236}">
                <a16:creationId xmlns:a16="http://schemas.microsoft.com/office/drawing/2014/main" id="{181B7C96-1861-B164-41AC-6316886E623F}"/>
              </a:ext>
            </a:extLst>
          </p:cNvPr>
          <p:cNvPicPr>
            <a:picLocks noChangeAspect="1"/>
          </p:cNvPicPr>
          <p:nvPr/>
        </p:nvPicPr>
        <p:blipFill>
          <a:blip r:embed="rId5"/>
          <a:stretch>
            <a:fillRect/>
          </a:stretch>
        </p:blipFill>
        <p:spPr>
          <a:xfrm>
            <a:off x="2656800" y="2364159"/>
            <a:ext cx="3504219" cy="3364051"/>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474A950F-205A-517E-58E2-1993A78C789A}"/>
              </a:ext>
            </a:extLst>
          </p:cNvPr>
          <p:cNvSpPr>
            <a:spLocks noGrp="1"/>
          </p:cNvSpPr>
          <p:nvPr>
            <p:ph idx="1"/>
          </p:nvPr>
        </p:nvSpPr>
        <p:spPr>
          <a:xfrm>
            <a:off x="7286175" y="2052116"/>
            <a:ext cx="3289986" cy="3997828"/>
          </a:xfrm>
        </p:spPr>
        <p:txBody>
          <a:bodyPr>
            <a:normAutofit fontScale="85000" lnSpcReduction="10000"/>
          </a:bodyPr>
          <a:lstStyle/>
          <a:p>
            <a:r>
              <a:rPr lang="es-ES" sz="1800" dirty="0"/>
              <a:t>La clase </a:t>
            </a:r>
            <a:r>
              <a:rPr lang="es-ES" dirty="0" err="1"/>
              <a:t>Component</a:t>
            </a:r>
            <a:r>
              <a:rPr lang="es-ES" sz="1800" dirty="0"/>
              <a:t> representa cada elemento dentro del inventario.</a:t>
            </a:r>
            <a:br>
              <a:rPr lang="es-ES" sz="1800" dirty="0"/>
            </a:br>
            <a:r>
              <a:rPr lang="es-ES" sz="1800" dirty="0"/>
              <a:t>Almacena información esencial como nombre, tipo, cantidad, ubicación y fecha de compra.</a:t>
            </a:r>
            <a:br>
              <a:rPr lang="es-ES" sz="1800" dirty="0"/>
            </a:br>
            <a:r>
              <a:rPr lang="es-ES" sz="1800" dirty="0"/>
              <a:t>Incluye constructores flexibles, métodos de acceso y modificación  y una función para detectar inventario bajo según un umbral configurable.</a:t>
            </a:r>
            <a:br>
              <a:rPr lang="es-ES" sz="1800" dirty="0"/>
            </a:br>
            <a:r>
              <a:rPr lang="es-ES" sz="1800" dirty="0"/>
              <a:t>Además, convierte la fecha de compra a un formato legible para facilitar su presentación en reportes y en la interfaz.</a:t>
            </a:r>
            <a:endParaRPr lang="es-CO" sz="1800" dirty="0"/>
          </a:p>
        </p:txBody>
      </p:sp>
      <p:sp>
        <p:nvSpPr>
          <p:cNvPr id="22" name="Rectangle 21">
            <a:extLst>
              <a:ext uri="{FF2B5EF4-FFF2-40B4-BE49-F238E27FC236}">
                <a16:creationId xmlns:a16="http://schemas.microsoft.com/office/drawing/2014/main" id="{28564258-BA63-4452-B6A7-27E3497D9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1062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80</TotalTime>
  <Words>611</Words>
  <Application>Microsoft Office PowerPoint</Application>
  <PresentationFormat>Panorámica</PresentationFormat>
  <Paragraphs>23</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MS Shell Dlg 2</vt:lpstr>
      <vt:lpstr>Wingdings</vt:lpstr>
      <vt:lpstr>Wingdings 3</vt:lpstr>
      <vt:lpstr>Madison</vt:lpstr>
      <vt:lpstr>Proyecto final ALSE-gestor inventario</vt:lpstr>
      <vt:lpstr>Descripción:</vt:lpstr>
      <vt:lpstr>Estructura del proyecto:</vt:lpstr>
      <vt:lpstr>Configuración de CMake</vt:lpstr>
      <vt:lpstr>Módulo DataBaseManager</vt:lpstr>
      <vt:lpstr>Presentación de PowerPoint</vt:lpstr>
      <vt:lpstr>InventoryManager</vt:lpstr>
      <vt:lpstr>ReportGenerator</vt:lpstr>
      <vt:lpstr>Clase component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Valderrama</dc:creator>
  <cp:lastModifiedBy>Daniel Valderrama</cp:lastModifiedBy>
  <cp:revision>3</cp:revision>
  <dcterms:created xsi:type="dcterms:W3CDTF">2025-12-08T17:17:39Z</dcterms:created>
  <dcterms:modified xsi:type="dcterms:W3CDTF">2025-12-09T23:02:52Z</dcterms:modified>
</cp:coreProperties>
</file>